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2DD4BF"/>
                </a:solidFill>
                <a:latin typeface="Aptos Display"/>
              </a:rPr>
              <a:t>FITBUDDY</a:t>
            </a:r>
          </a:p>
          <a:p>
            <a:r>
              <a:rPr sz="2400">
                <a:solidFill>
                  <a:srgbClr val="F5F7FA"/>
                </a:solidFill>
                <a:latin typeface="Aptos"/>
              </a:rPr>
              <a:t>AI-Powered Personalized Fitness Planning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51460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6B4C6"/>
                </a:solidFill>
                <a:latin typeface="Aptos"/>
              </a:rPr>
              <a:t>FastAPI • Jinja2 • SQLite/SQLAlchemy • Gemini AI</a:t>
            </a:r>
          </a:p>
          <a:p>
            <a:r>
              <a:rPr sz="1500">
                <a:solidFill>
                  <a:srgbClr val="F5F7FA"/>
                </a:solidFill>
              </a:rPr>
              <a:t>Project Presentation &amp; Main Coding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977639"/>
            <a:ext cx="2057400" cy="114300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DD4BF"/>
                </a:solidFill>
                <a:latin typeface="Aptos Display"/>
              </a:rPr>
              <a:t>7</a:t>
            </a:r>
          </a:p>
          <a:p>
            <a:pPr algn="ctr"/>
            <a:r>
              <a:rPr sz="1000">
                <a:solidFill>
                  <a:srgbClr val="A6B4C6"/>
                </a:solidFill>
                <a:latin typeface="Aptos"/>
              </a:rPr>
              <a:t>Days per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3977639"/>
            <a:ext cx="2057400" cy="114300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38BDF8"/>
                </a:solidFill>
                <a:latin typeface="Aptos Display"/>
              </a:rPr>
              <a:t>3</a:t>
            </a:r>
          </a:p>
          <a:p>
            <a:pPr algn="ctr"/>
            <a:r>
              <a:rPr sz="1000">
                <a:solidFill>
                  <a:srgbClr val="A6B4C6"/>
                </a:solidFill>
                <a:latin typeface="Aptos"/>
              </a:rPr>
              <a:t>AI outputs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3977639"/>
            <a:ext cx="2057400" cy="114300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4ADE80"/>
                </a:solidFill>
                <a:latin typeface="Aptos Display"/>
              </a:rPr>
              <a:t>4</a:t>
            </a:r>
          </a:p>
          <a:p>
            <a:pPr algn="ctr"/>
            <a:r>
              <a:rPr sz="1000">
                <a:solidFill>
                  <a:srgbClr val="A6B4C6"/>
                </a:solidFill>
                <a:latin typeface="Aptos"/>
              </a:rPr>
              <a:t>Core 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977639"/>
            <a:ext cx="2057400" cy="114300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B923C"/>
                </a:solidFill>
                <a:latin typeface="Aptos Display"/>
              </a:rPr>
              <a:t>SQLite</a:t>
            </a:r>
          </a:p>
          <a:p>
            <a:pPr algn="ctr"/>
            <a:r>
              <a:rPr sz="1000">
                <a:solidFill>
                  <a:srgbClr val="A6B4C6"/>
                </a:solidFill>
                <a:latin typeface="Aptos"/>
              </a:rPr>
              <a:t>Persistence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23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6B4C6"/>
                </a:solidFill>
              </a:rPr>
              <a:t>Prepared from the supplied FitBuddy project source and screenshots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6B4C6"/>
                </a:solidFill>
                <a:latin typeface="Aptos"/>
              </a:rPr>
              <a:t>What FitBuddy is designed to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49240" cy="452628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/>
          <a:lstStyle/>
          <a:p>
            <a:pPr algn="ctr"/>
            <a:r>
              <a:rPr sz="1600" b="1">
                <a:solidFill>
                  <a:srgbClr val="2DD4BF"/>
                </a:solidFill>
                <a:latin typeface="Aptos"/>
              </a:rPr>
              <a:t>Core capabilities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Collects a user's basic fitness profile: name, age, weight, goal and intensity.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Generates a structured 7-day workout plan with warm-up, exercises, cooldown and safety guidance.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Produces a concise nutrition/recovery suggestion.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Allows the user to submit feedback and revise the saved workout plan.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Stores users and workout plans in SQLite through SQLAlchemy.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Provides browser pages plus JSON API endpoints.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394960" cy="452628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/>
          <a:lstStyle/>
          <a:p>
            <a:pPr algn="ctr"/>
            <a:r>
              <a:rPr sz="1600" b="1">
                <a:solidFill>
                  <a:srgbClr val="2DD4BF"/>
                </a:solidFill>
                <a:latin typeface="Aptos"/>
              </a:rPr>
              <a:t>Technology stack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FastAPI backend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Jinja2 HTML templates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Pydantic validation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Gemini service layer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SQLite database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Demo/local fallback when AI is unavailable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3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6B4C6"/>
                </a:solidFill>
                <a:latin typeface="Aptos"/>
              </a:rPr>
              <a:t>FitBuddy • AI Fitness Plan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6B4C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2.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6B4C6"/>
                </a:solidFill>
                <a:latin typeface="Aptos"/>
              </a:rPr>
              <a:t>Clean separation between UI, API, persistence and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240280" cy="1051560"/>
          </a:xfrm>
          <a:prstGeom prst="roundRect">
            <a:avLst/>
          </a:prstGeom>
          <a:solidFill>
            <a:srgbClr val="121C2D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38BDF8"/>
                </a:solidFill>
              </a:rPr>
              <a:t>Browser / UI</a:t>
            </a:r>
          </a:p>
          <a:p>
            <a:pPr algn="ctr"/>
            <a:r>
              <a:rPr sz="1000">
                <a:solidFill>
                  <a:srgbClr val="F5F7FA"/>
                </a:solidFill>
              </a:rPr>
              <a:t>Jinja2 + CSS + 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554480"/>
            <a:ext cx="2240280" cy="1051560"/>
          </a:xfrm>
          <a:prstGeom prst="roundRect">
            <a:avLst/>
          </a:prstGeom>
          <a:solidFill>
            <a:srgbClr val="121C2D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DD4BF"/>
                </a:solidFill>
              </a:rPr>
              <a:t>FastAPI Routes</a:t>
            </a:r>
          </a:p>
          <a:p>
            <a:pPr algn="ctr"/>
            <a:r>
              <a:rPr sz="1000">
                <a:solidFill>
                  <a:srgbClr val="F5F7FA"/>
                </a:solidFill>
              </a:rPr>
              <a:t>Forms + JSON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2240280" cy="1051560"/>
          </a:xfrm>
          <a:prstGeom prst="roundRect">
            <a:avLst/>
          </a:prstGeom>
          <a:solidFill>
            <a:srgbClr val="121C2D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ADE80"/>
                </a:solidFill>
              </a:rPr>
              <a:t>Service Layer</a:t>
            </a:r>
          </a:p>
          <a:p>
            <a:pPr algn="ctr"/>
            <a:r>
              <a:rPr sz="1000">
                <a:solidFill>
                  <a:srgbClr val="F5F7FA"/>
                </a:solidFill>
              </a:rPr>
              <a:t>Gemini + fallback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554480"/>
            <a:ext cx="2240280" cy="1051560"/>
          </a:xfrm>
          <a:prstGeom prst="roundRect">
            <a:avLst/>
          </a:prstGeom>
          <a:solidFill>
            <a:srgbClr val="121C2D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B923C"/>
                </a:solidFill>
              </a:rPr>
              <a:t>Database</a:t>
            </a:r>
          </a:p>
          <a:p>
            <a:pPr algn="ctr"/>
            <a:r>
              <a:rPr sz="1000">
                <a:solidFill>
                  <a:srgbClr val="F5F7FA"/>
                </a:solidFill>
              </a:rPr>
              <a:t>SQLite + SQLAlchemy</a:t>
            </a:r>
          </a:p>
        </p:txBody>
      </p:sp>
      <p:sp>
        <p:nvSpPr>
          <p:cNvPr id="8" name="Chevron 7"/>
          <p:cNvSpPr/>
          <p:nvPr/>
        </p:nvSpPr>
        <p:spPr>
          <a:xfrm>
            <a:off x="2971800" y="1874519"/>
            <a:ext cx="411480" cy="411480"/>
          </a:xfrm>
          <a:prstGeom prst="chevron">
            <a:avLst/>
          </a:prstGeom>
          <a:solidFill>
            <a:srgbClr val="A6B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5806440" y="1874519"/>
            <a:ext cx="411480" cy="411480"/>
          </a:xfrm>
          <a:prstGeom prst="chevron">
            <a:avLst/>
          </a:prstGeom>
          <a:solidFill>
            <a:srgbClr val="A6B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8641080" y="1874519"/>
            <a:ext cx="411480" cy="411480"/>
          </a:xfrm>
          <a:prstGeom prst="chevron">
            <a:avLst/>
          </a:prstGeom>
          <a:solidFill>
            <a:srgbClr val="A6B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3154680"/>
            <a:ext cx="10332720" cy="214884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/>
          <a:lstStyle/>
          <a:p>
            <a:pPr algn="ctr"/>
            <a:r>
              <a:rPr sz="1600" b="1">
                <a:solidFill>
                  <a:srgbClr val="2DD4BF"/>
                </a:solidFill>
                <a:latin typeface="Aptos"/>
              </a:rPr>
              <a:t>End-to-end flow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Request → Pydantic validation → workout/nutrition generation → database save → result page/API response.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Gemini is treated as an enhancement rather than a hard dependency: local deterministic fallback keeps the demo usable.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Feedback reuses the stored original plan and profile, then saves the revised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3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6B4C6"/>
                </a:solidFill>
                <a:latin typeface="Aptos"/>
              </a:rPr>
              <a:t>FitBuddy • AI Fitness Plan 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6B4C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3. Main Application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6B4C6"/>
                </a:solidFill>
                <a:latin typeface="Aptos"/>
              </a:rPr>
              <a:t>FastAPI application setup and lifecycle</a:t>
            </a:r>
          </a:p>
        </p:txBody>
      </p:sp>
      <p:pic>
        <p:nvPicPr>
          <p:cNvPr id="4" name="Picture 3" descr="_tmp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49224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69480" y="1325880"/>
            <a:ext cx="4297680" cy="4297680"/>
          </a:xfrm>
          <a:prstGeom prst="roundRect">
            <a:avLst/>
          </a:prstGeom>
          <a:solidFill>
            <a:srgbClr val="060B14"/>
          </a:solidFill>
          <a:ln>
            <a:solidFill>
              <a:srgbClr val="27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38BDF8"/>
                </a:solidFill>
                <a:latin typeface="Aptos"/>
              </a:rPr>
              <a:t>Key code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D6E0EB"/>
                </a:solidFill>
                <a:latin typeface="Consolas"/>
              </a:rPr>
              <a:t>@asynccontextmanager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D6E0EB"/>
                </a:solidFill>
                <a:latin typeface="Consolas"/>
              </a:rPr>
              <a:t>async def lifespan(app):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D6E0EB"/>
                </a:solidFill>
                <a:latin typeface="Consolas"/>
              </a:rPr>
              <a:t>    init_db()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D6E0EB"/>
                </a:solidFill>
                <a:latin typeface="Consolas"/>
              </a:rPr>
              <a:t>    yield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50">
                <a:solidFill>
                  <a:srgbClr val="D6E0EB"/>
                </a:solidFill>
                <a:latin typeface="Consolas"/>
              </a:rPr>
              <a:t>app = FastAPI(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D6E0EB"/>
                </a:solidFill>
                <a:latin typeface="Consolas"/>
              </a:rPr>
              <a:t>    title=settings.app_name,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D6E0EB"/>
                </a:solidFill>
                <a:latin typeface="Consolas"/>
              </a:rPr>
              <a:t>    description="AI-powered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D6E0EB"/>
                </a:solidFill>
                <a:latin typeface="Consolas"/>
              </a:rPr>
              <a:t>    personalized fitness planning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D6E0EB"/>
                </a:solidFill>
                <a:latin typeface="Consolas"/>
              </a:rPr>
              <a:t>    with Gemini.",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D6E0EB"/>
                </a:solidFill>
                <a:latin typeface="Consolas"/>
              </a:rPr>
              <a:t>    version="1.0.0",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D6E0EB"/>
                </a:solidFill>
                <a:latin typeface="Consolas"/>
              </a:rPr>
              <a:t>    lifespan=lifespan,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D6E0EB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50">
                <a:solidFill>
                  <a:srgbClr val="D6E0EB"/>
                </a:solidFill>
                <a:latin typeface="Consolas"/>
              </a:rPr>
              <a:t>app.mount("/static", ...)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D6E0EB"/>
                </a:solidFill>
                <a:latin typeface="Consolas"/>
              </a:rPr>
              <a:t>app.include_router(router)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3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6B4C6"/>
                </a:solidFill>
                <a:latin typeface="Aptos"/>
              </a:rPr>
              <a:t>FitBuddy • AI Fitness Plan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6B4C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4. Gemini Service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6B4C6"/>
                </a:solidFill>
                <a:latin typeface="Aptos"/>
              </a:rPr>
              <a:t>Structured AI output + safe local fallback</a:t>
            </a:r>
          </a:p>
        </p:txBody>
      </p:sp>
      <p:pic>
        <p:nvPicPr>
          <p:cNvPr id="4" name="Picture 3" descr="_tmp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40080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234440"/>
            <a:ext cx="4434840" cy="4800600"/>
          </a:xfrm>
          <a:prstGeom prst="roundRect">
            <a:avLst/>
          </a:prstGeom>
          <a:solidFill>
            <a:srgbClr val="060B14"/>
          </a:solidFill>
          <a:ln>
            <a:solidFill>
              <a:srgbClr val="27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38BDF8"/>
                </a:solidFill>
                <a:latin typeface="Aptos"/>
              </a:rPr>
              <a:t>Important reliability logic</a:t>
            </a:r>
          </a:p>
          <a:p>
            <a:pPr>
              <a:spcAft>
                <a:spcPts val="0"/>
              </a:spcAft>
            </a:pPr>
            <a:r>
              <a:rPr sz="1010">
                <a:solidFill>
                  <a:srgbClr val="D6E0EB"/>
                </a:solidFill>
                <a:latin typeface="Consolas"/>
              </a:rPr>
              <a:t>def generate_workout_gemini(data):</a:t>
            </a:r>
          </a:p>
          <a:p>
            <a:pPr>
              <a:spcAft>
                <a:spcPts val="0"/>
              </a:spcAft>
            </a:pPr>
            <a:r>
              <a:rPr sz="1010">
                <a:solidFill>
                  <a:srgbClr val="D6E0EB"/>
                </a:solidFill>
                <a:latin typeface="Consolas"/>
              </a:rPr>
              <a:t>    if settings.demo_mode or not settings.gemini_api_key:</a:t>
            </a:r>
          </a:p>
          <a:p>
            <a:pPr>
              <a:spcAft>
                <a:spcPts val="0"/>
              </a:spcAft>
            </a:pPr>
            <a:r>
              <a:rPr sz="1010">
                <a:solidFill>
                  <a:srgbClr val="D6E0EB"/>
                </a:solidFill>
                <a:latin typeface="Consolas"/>
              </a:rPr>
              <a:t>        return demo_workout(data)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10">
                <a:solidFill>
                  <a:srgbClr val="D6E0EB"/>
                </a:solidFill>
                <a:latin typeface="Consolas"/>
              </a:rPr>
              <a:t>    try:</a:t>
            </a:r>
          </a:p>
          <a:p>
            <a:pPr>
              <a:spcAft>
                <a:spcPts val="0"/>
              </a:spcAft>
            </a:pPr>
            <a:r>
              <a:rPr sz="1010">
                <a:solidFill>
                  <a:srgbClr val="D6E0EB"/>
                </a:solidFill>
                <a:latin typeface="Consolas"/>
              </a:rPr>
              <a:t>        return _generate_structured(</a:t>
            </a:r>
          </a:p>
          <a:p>
            <a:pPr>
              <a:spcAft>
                <a:spcPts val="0"/>
              </a:spcAft>
            </a:pPr>
            <a:r>
              <a:rPr sz="1010">
                <a:solidFill>
                  <a:srgbClr val="D6E0EB"/>
                </a:solidFill>
                <a:latin typeface="Consolas"/>
              </a:rPr>
              <a:t>            settings.workout_model,</a:t>
            </a:r>
          </a:p>
          <a:p>
            <a:pPr>
              <a:spcAft>
                <a:spcPts val="0"/>
              </a:spcAft>
            </a:pPr>
            <a:r>
              <a:rPr sz="1010">
                <a:solidFill>
                  <a:srgbClr val="D6E0EB"/>
                </a:solidFill>
                <a:latin typeface="Consolas"/>
              </a:rPr>
              <a:t>            prompt,</a:t>
            </a:r>
          </a:p>
          <a:p>
            <a:pPr>
              <a:spcAft>
                <a:spcPts val="0"/>
              </a:spcAft>
            </a:pPr>
            <a:r>
              <a:rPr sz="1010">
                <a:solidFill>
                  <a:srgbClr val="D6E0EB"/>
                </a:solidFill>
                <a:latin typeface="Consolas"/>
              </a:rPr>
              <a:t>            WorkoutPlanOutput,</a:t>
            </a:r>
          </a:p>
          <a:p>
            <a:pPr>
              <a:spcAft>
                <a:spcPts val="0"/>
              </a:spcAft>
            </a:pPr>
            <a:r>
              <a:rPr sz="1010">
                <a:solidFill>
                  <a:srgbClr val="D6E0EB"/>
                </a:solidFill>
                <a:latin typeface="Consolas"/>
              </a:rPr>
              <a:t>        ).strip()</a:t>
            </a:r>
          </a:p>
          <a:p>
            <a:pPr>
              <a:spcAft>
                <a:spcPts val="0"/>
              </a:spcAft>
            </a:pPr>
            <a:r>
              <a:rPr sz="1010">
                <a:solidFill>
                  <a:srgbClr val="D6E0EB"/>
                </a:solidFill>
                <a:latin typeface="Consolas"/>
              </a:rPr>
              <a:t>    except GeminiServiceError:</a:t>
            </a:r>
          </a:p>
          <a:p>
            <a:pPr>
              <a:spcAft>
                <a:spcPts val="0"/>
              </a:spcAft>
            </a:pPr>
            <a:r>
              <a:rPr sz="1010">
                <a:solidFill>
                  <a:srgbClr val="D6E0EB"/>
                </a:solidFill>
                <a:latin typeface="Consolas"/>
              </a:rPr>
              <a:t>        return demo_workout(data)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10">
                <a:solidFill>
                  <a:srgbClr val="D6E0EB"/>
                </a:solidFill>
                <a:latin typeface="Consolas"/>
              </a:rPr>
              <a:t># Similar fallback is used for</a:t>
            </a:r>
          </a:p>
          <a:p>
            <a:pPr>
              <a:spcAft>
                <a:spcPts val="0"/>
              </a:spcAft>
            </a:pPr>
            <a:r>
              <a:rPr sz="1010">
                <a:solidFill>
                  <a:srgbClr val="D6E0EB"/>
                </a:solidFill>
                <a:latin typeface="Consolas"/>
              </a:rPr>
              <a:t># nutrition and plan updates.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3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6B4C6"/>
                </a:solidFill>
                <a:latin typeface="Aptos"/>
              </a:rPr>
              <a:t>FitBuddy • AI Fitness Plan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6B4C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5. Routes &amp; API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6B4C6"/>
                </a:solidFill>
                <a:latin typeface="Aptos"/>
              </a:rPr>
              <a:t>Browser forms and JSON endpoints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532120" cy="4983480"/>
          </a:xfrm>
          <a:prstGeom prst="roundRect">
            <a:avLst/>
          </a:prstGeom>
          <a:solidFill>
            <a:srgbClr val="060B14"/>
          </a:solidFill>
          <a:ln>
            <a:solidFill>
              <a:srgbClr val="27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38BDF8"/>
                </a:solidFill>
                <a:latin typeface="Aptos"/>
              </a:rPr>
              <a:t>Main browser workflow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@router.post("/generate-workout")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def generate_workout(...):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data = UserInput(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    user_id=user_id,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    name=name,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    age=age,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    weight=weight,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    goal=goal,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    intensity=intensity,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)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workout = generate_workout_gemini(data)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nutrition = generate_nutrition_tip_with_flash(data)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user = save_user(db, data)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plan = save_plan(db, user, workout, nutrition)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return templates.TemplateResponse(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    request, "result.html",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    _result_context(request, user, plan)</a:t>
            </a:r>
          </a:p>
          <a:p>
            <a:pPr>
              <a:spcAft>
                <a:spcPts val="0"/>
              </a:spcAft>
            </a:pPr>
            <a:r>
              <a:rPr sz="940">
                <a:solidFill>
                  <a:srgbClr val="D6E0EB"/>
                </a:solidFill>
                <a:latin typeface="Consolas"/>
              </a:rPr>
              <a:t>   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234440"/>
            <a:ext cx="5212080" cy="498348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/>
          <a:lstStyle/>
          <a:p>
            <a:pPr algn="ctr"/>
            <a:r>
              <a:rPr sz="1600" b="1">
                <a:solidFill>
                  <a:srgbClr val="2DD4BF"/>
                </a:solidFill>
                <a:latin typeface="Aptos"/>
              </a:rPr>
              <a:t>Available endpoints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GET / — landing page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POST /generate-workout — form-based plan generation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POST /submit-feedback — revise a saved plan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GET /view-all-users — admin/coach view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GET /api/health — service health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POST /api/generate-workout — JSON API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POST /api/submit-feedback — JSON API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GET /api/users — stored user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3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6B4C6"/>
                </a:solidFill>
                <a:latin typeface="Aptos"/>
              </a:rPr>
              <a:t>FitBuddy • AI Fitness Plan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6B4C6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6. Validation &amp;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6B4C6"/>
                </a:solidFill>
                <a:latin typeface="Aptos"/>
              </a:rPr>
              <a:t>Pydantic schemas protect the application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486400" cy="4892040"/>
          </a:xfrm>
          <a:prstGeom prst="roundRect">
            <a:avLst/>
          </a:prstGeom>
          <a:solidFill>
            <a:srgbClr val="060B14"/>
          </a:solidFill>
          <a:ln>
            <a:solidFill>
              <a:srgbClr val="27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38BDF8"/>
                </a:solidFill>
                <a:latin typeface="Aptos"/>
              </a:rPr>
              <a:t>UserInput schema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Goal = Literal[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"weight loss",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"muscle gain",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"general wellness",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"flexibility",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"endurance",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Intensity = Literal[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"low", "medium", "high"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class UserInput(BaseModel):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user_id: str = Field(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    min_length=2, max_length=50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)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name: str = Field(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    min_length=2, max_length=100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)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age: int = Field(ge=13, le=100)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weight: float = Field(gt=25, le=350)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goal: Goal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D6E0EB"/>
                </a:solidFill>
                <a:latin typeface="Consolas"/>
              </a:rPr>
              <a:t>    intensity: Intensity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257800" cy="489204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/>
          <a:lstStyle/>
          <a:p>
            <a:pPr algn="ctr"/>
            <a:r>
              <a:rPr sz="1600" b="1">
                <a:solidFill>
                  <a:srgbClr val="2DD4BF"/>
                </a:solidFill>
                <a:latin typeface="Aptos"/>
              </a:rPr>
              <a:t>Why validation matters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Name is cleaned before use.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Age is restricted to a defined safe input range.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Weight has lower and upper validation limits.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Goal and intensity use Literal values, preventing unexpected strings.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WorkoutPlanOutput requires exactly 7 day entries.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NutritionOutput keeps the AI response concise and structured.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3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6B4C6"/>
                </a:solidFill>
                <a:latin typeface="Aptos"/>
              </a:rPr>
              <a:t>FitBuddy • AI Fitness Plan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6B4C6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7. Error Encountered During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6B4C6"/>
                </a:solidFill>
                <a:latin typeface="Aptos"/>
              </a:rPr>
              <a:t>The screenshot shows a Windows command-resolution issue</a:t>
            </a:r>
          </a:p>
        </p:txBody>
      </p:sp>
      <p:pic>
        <p:nvPicPr>
          <p:cNvPr id="4" name="Picture 3" descr="_tmp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6751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60920" y="1325880"/>
            <a:ext cx="4160520" cy="448056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/>
          <a:lstStyle/>
          <a:p>
            <a:pPr algn="ctr"/>
            <a:r>
              <a:rPr sz="1600" b="1">
                <a:solidFill>
                  <a:srgbClr val="2DD4BF"/>
                </a:solidFill>
                <a:latin typeface="Aptos"/>
              </a:rPr>
              <a:t>Fix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Observed message: 'pip is not recognized...'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This is a Python/PowerShell environment PATH issue, not a FastAPI route error.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Use the Python launcher/module form so pip is resolved through the installed Python.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Recommended:  py -m pip install -r requirements.txt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Then run:  py -m uvicorn app.main:app --reload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3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6B4C6"/>
                </a:solidFill>
                <a:latin typeface="Aptos"/>
              </a:rPr>
              <a:t>FitBuddy • AI Fitness Plan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6B4C6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8. Clean Windows Setup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6B4C6"/>
                </a:solidFill>
                <a:latin typeface="Aptos"/>
              </a:rPr>
              <a:t>Use these commands from the FitBuddy project root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44200" cy="4206240"/>
          </a:xfrm>
          <a:prstGeom prst="roundRect">
            <a:avLst/>
          </a:prstGeom>
          <a:solidFill>
            <a:srgbClr val="060B14"/>
          </a:solidFill>
          <a:ln>
            <a:solidFill>
              <a:srgbClr val="273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18872"/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38BDF8"/>
                </a:solidFill>
                <a:latin typeface="Aptos"/>
              </a:rPr>
              <a:t>Recommended PowerShell flow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D6E0EB"/>
                </a:solidFill>
                <a:latin typeface="Consolas"/>
              </a:rPr>
              <a:t>cd D:\FitBuddy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500">
                <a:solidFill>
                  <a:srgbClr val="D6E0EB"/>
                </a:solidFill>
                <a:latin typeface="Consolas"/>
              </a:rPr>
              <a:t>py --version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D6E0EB"/>
                </a:solidFill>
                <a:latin typeface="Consolas"/>
              </a:rPr>
              <a:t>py -m pip --version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500">
                <a:solidFill>
                  <a:srgbClr val="D6E0EB"/>
                </a:solidFill>
                <a:latin typeface="Consolas"/>
              </a:rPr>
              <a:t>py -m pip install -r requirements.txt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500">
                <a:solidFill>
                  <a:srgbClr val="D6E0EB"/>
                </a:solidFill>
                <a:latin typeface="Consolas"/>
              </a:rPr>
              <a:t>py -m uvicorn app.main:app --reload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500">
                <a:solidFill>
                  <a:srgbClr val="D6E0EB"/>
                </a:solidFill>
                <a:latin typeface="Consolas"/>
              </a:rPr>
              <a:t># Optional: run automated tests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D6E0EB"/>
                </a:solidFill>
                <a:latin typeface="Consolas"/>
              </a:rPr>
              <a:t>pytest -q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500">
                <a:solidFill>
                  <a:srgbClr val="D6E0EB"/>
                </a:solidFill>
                <a:latin typeface="Consolas"/>
              </a:rPr>
              <a:t># Open in browser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D6E0EB"/>
                </a:solidFill>
                <a:latin typeface="Consolas"/>
              </a:rPr>
              <a:t>http://127.0.0.1:8000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D6E0EB"/>
                </a:solidFill>
                <a:latin typeface="Consolas"/>
              </a:rPr>
              <a:t>http://127.0.0.1:8000/docs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623560"/>
            <a:ext cx="8503920" cy="566928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/>
          <a:lstStyle/>
          <a:p>
            <a:pPr algn="ctr"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If 'py' is also not recognized, install Python 3.11+ and enable 'Add Python to PATH' during installation.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3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6B4C6"/>
                </a:solidFill>
                <a:latin typeface="Aptos"/>
              </a:rPr>
              <a:t>FitBuddy • AI Fitness Plan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6B4C6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9. Reliability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6B4C6"/>
                </a:solidFill>
                <a:latin typeface="Aptos"/>
              </a:rPr>
              <a:t>Design goal: the UI should remain usable even when Gemini is unavailable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240280" cy="114300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4ADE80"/>
                </a:solidFill>
                <a:latin typeface="Aptos Display"/>
              </a:rPr>
              <a:t>LOCAL</a:t>
            </a:r>
          </a:p>
          <a:p>
            <a:pPr algn="ctr"/>
            <a:r>
              <a:rPr sz="1000">
                <a:solidFill>
                  <a:srgbClr val="A6B4C6"/>
                </a:solidFill>
                <a:latin typeface="Aptos"/>
              </a:rPr>
              <a:t>Workout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325880"/>
            <a:ext cx="2240280" cy="114300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38BDF8"/>
                </a:solidFill>
                <a:latin typeface="Aptos Display"/>
              </a:rPr>
              <a:t>LOCAL</a:t>
            </a:r>
          </a:p>
          <a:p>
            <a:pPr algn="ctr"/>
            <a:r>
              <a:rPr sz="1000">
                <a:solidFill>
                  <a:srgbClr val="A6B4C6"/>
                </a:solidFill>
                <a:latin typeface="Aptos"/>
              </a:rPr>
              <a:t>Nutrition fallback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325880"/>
            <a:ext cx="2240280" cy="114300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B923C"/>
                </a:solidFill>
                <a:latin typeface="Aptos Display"/>
              </a:rPr>
              <a:t>LOCAL</a:t>
            </a:r>
          </a:p>
          <a:p>
            <a:pPr algn="ctr"/>
            <a:r>
              <a:rPr sz="1000">
                <a:solidFill>
                  <a:srgbClr val="A6B4C6"/>
                </a:solidFill>
                <a:latin typeface="Aptos"/>
              </a:rPr>
              <a:t>Feedback fallback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325880"/>
            <a:ext cx="2240280" cy="114300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DD4BF"/>
                </a:solidFill>
                <a:latin typeface="Aptos Display"/>
              </a:rPr>
              <a:t>PYDANTIC</a:t>
            </a:r>
          </a:p>
          <a:p>
            <a:pPr algn="ctr"/>
            <a:r>
              <a:rPr sz="1000">
                <a:solidFill>
                  <a:srgbClr val="A6B4C6"/>
                </a:solidFill>
                <a:latin typeface="Aptos"/>
              </a:rPr>
              <a:t>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10698480" cy="260604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/>
          <a:lstStyle/>
          <a:p>
            <a:pPr algn="ctr"/>
            <a:r>
              <a:rPr sz="1600" b="1">
                <a:solidFill>
                  <a:srgbClr val="2DD4BF"/>
                </a:solidFill>
                <a:latin typeface="Aptos"/>
              </a:rPr>
              <a:t>Reliability strategy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Demo mode can run without a Gemini API key.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Gemini network, quota, model-response or API failures are caught in the service layer.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A deterministic local plan is returned instead of breaking the browser flow.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The API layer still keeps a final 503 guard for unexpected service-level failures.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Automated tests are included under tests/ and are intended to run with demo mode.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3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6B4C6"/>
                </a:solidFill>
                <a:latin typeface="Aptos"/>
              </a:rPr>
              <a:t>FitBuddy • AI Fitness Plan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6B4C6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10. Final 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6B4C6"/>
                </a:solidFill>
                <a:latin typeface="Aptos"/>
              </a:rPr>
              <a:t>FitBuddy combines AI generation with a practical local web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49240" cy="448056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/>
          <a:lstStyle/>
          <a:p>
            <a:pPr algn="ctr"/>
            <a:r>
              <a:rPr sz="1600" b="1">
                <a:solidFill>
                  <a:srgbClr val="2DD4BF"/>
                </a:solidFill>
                <a:latin typeface="Aptos"/>
              </a:rPr>
              <a:t>What the project delivers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Personalized 7-day workout planning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Nutrition/recovery guidance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Feedback-driven plan revision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SQLite persistence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FastAPI + Jinja2 web interface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JSON API endpoints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AI fallback for resilient demos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5349240" cy="4480560"/>
          </a:xfrm>
          <a:prstGeom prst="roundRect">
            <a:avLst/>
          </a:prstGeom>
          <a:solidFill>
            <a:srgbClr val="121C2D"/>
          </a:solidFill>
          <a:ln>
            <a:solidFill>
              <a:srgbClr val="26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46304"/>
          <a:lstStyle/>
          <a:p>
            <a:pPr algn="ctr"/>
            <a:r>
              <a:rPr sz="1600" b="1">
                <a:solidFill>
                  <a:srgbClr val="2DD4BF"/>
                </a:solidFill>
                <a:latin typeface="Aptos"/>
              </a:rPr>
              <a:t>Demo checklist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Open the project in VS Code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Install dependencies with python/py -m pip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Configure .env when Gemini is required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Run Uvicorn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Test the UI and /docs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F7FA"/>
                </a:solidFill>
                <a:latin typeface="Aptos"/>
              </a:rPr>
              <a:t>• Use pytest -q for automated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DD4BF"/>
                </a:solidFill>
                <a:latin typeface="Aptos Display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3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6B4C6"/>
                </a:solidFill>
                <a:latin typeface="Aptos"/>
              </a:rPr>
              <a:t>FitBuddy • AI Fitness Plan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6B4C6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